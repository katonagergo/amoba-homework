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Inter"/>
      <p:regular r:id="rId25"/>
      <p:bold r:id="rId26"/>
      <p:italic r:id="rId27"/>
      <p:boldItalic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e9eaf7f8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e9eaf7f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1e9eaf7f8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1e9eaf7f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1e9eaf7f8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1e9eaf7f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1e9eaf7f8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1e9eaf7f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1e9eaf7f8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1e9eaf7f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1e9eaf7f8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1e9eaf7f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1e9eaf7f8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1e9eaf7f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1e9eaf7f8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1e9eaf7f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1e9eaf7f8_0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1e9eaf7f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615505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AMŐBA </a:t>
            </a:r>
            <a:r>
              <a:rPr b="1" lang="en-US" sz="60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PROJEKT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815655"/>
            <a:ext cx="1104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A6ADC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Készítette: Katona Gergő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MIRŐL SZÓL EZ A PROJEKT?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4225" y="1258975"/>
            <a:ext cx="5203550" cy="52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1. ÚJ JÁTÉK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26" y="1614400"/>
            <a:ext cx="5956600" cy="435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title="1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3609" y="1698850"/>
            <a:ext cx="5638559" cy="41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2. JÁTÉK MENTÉSE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75" y="2121325"/>
            <a:ext cx="6392326" cy="314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 title="2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0000" y="1413848"/>
            <a:ext cx="5553603" cy="456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3. JÁTÉK BETÖLTÉSE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875" y="2024475"/>
            <a:ext cx="6765149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 title="3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3395" y="1125600"/>
            <a:ext cx="4969462" cy="4865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4. X LÉPÉS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725" y="1376350"/>
            <a:ext cx="6606849" cy="52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4.5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3650" y="203350"/>
            <a:ext cx="5036902" cy="6451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5. O LÉPÉS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371" y="1125600"/>
            <a:ext cx="5608558" cy="554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4.5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6030" y="571500"/>
            <a:ext cx="4749438" cy="6083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6. STATISZTIKA</a:t>
            </a:r>
            <a:endParaRPr/>
          </a:p>
        </p:txBody>
      </p:sp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50" y="1733650"/>
            <a:ext cx="5642649" cy="440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 title="6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17775" y="1927625"/>
            <a:ext cx="6243251" cy="387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7. TÁBLA MEGJELENÍTÉSE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325" y="1782300"/>
            <a:ext cx="6854099" cy="44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 title="7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5320" y="1556300"/>
            <a:ext cx="4827259" cy="471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8. KILÉPÉS</a:t>
            </a:r>
            <a:endParaRPr/>
          </a:p>
        </p:txBody>
      </p:sp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2200" y="1745975"/>
            <a:ext cx="9132400" cy="36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 MAIN</a:t>
            </a:r>
            <a:endParaRPr/>
          </a:p>
        </p:txBody>
      </p:sp>
      <p:pic>
        <p:nvPicPr>
          <p:cNvPr id="163" name="Google Shape;163;p23" title="ma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175" y="1191975"/>
            <a:ext cx="9957650" cy="560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 GRIDNEK A FELÉPÍTÉSE</a:t>
            </a:r>
            <a:endParaRPr/>
          </a:p>
        </p:txBody>
      </p:sp>
      <p:pic>
        <p:nvPicPr>
          <p:cNvPr id="170" name="Google Shape;170;p24" title="cell-enu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8025" y="1193551"/>
            <a:ext cx="10215951" cy="520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5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JÁTÉKMENET</a:t>
            </a:r>
            <a:endParaRPr/>
          </a:p>
        </p:txBody>
      </p:sp>
      <p:pic>
        <p:nvPicPr>
          <p:cNvPr id="177" name="Google Shape;177;p25" title="gamestatus-enu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924" y="1125600"/>
            <a:ext cx="9894154" cy="547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6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JÁTÉKÁLLAPOT</a:t>
            </a:r>
            <a:endParaRPr/>
          </a:p>
        </p:txBody>
      </p:sp>
      <p:pic>
        <p:nvPicPr>
          <p:cNvPr id="184" name="Google Shape;184;p26" title="gamestate-cla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2918" y="1125600"/>
            <a:ext cx="9286164" cy="567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7"/>
          <p:cNvSpPr txBox="1"/>
          <p:nvPr/>
        </p:nvSpPr>
        <p:spPr>
          <a:xfrm>
            <a:off x="571500" y="2505075"/>
            <a:ext cx="2552402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0" u="none" cap="none" strike="noStrike">
                <a:solidFill>
                  <a:srgbClr val="F38BA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571500" y="4505325"/>
            <a:ext cx="2552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94E2D5"/>
                </a:solidFill>
                <a:latin typeface="Inter"/>
                <a:ea typeface="Inter"/>
                <a:cs typeface="Inter"/>
                <a:sym typeface="Inter"/>
              </a:rPr>
              <a:t>darab egymás melletti karakter szükséges 5&lt;=n grid esetén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MIKOR NYERÜNK?</a:t>
            </a:r>
            <a:endParaRPr/>
          </a:p>
        </p:txBody>
      </p:sp>
      <p:pic>
        <p:nvPicPr>
          <p:cNvPr id="193" name="Google Shape;193;p27" title="requiredtowi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725" y="1979250"/>
            <a:ext cx="8551398" cy="414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/>
        </p:nvSpPr>
        <p:spPr>
          <a:xfrm>
            <a:off x="1696050" y="400034"/>
            <a:ext cx="495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COUNTDIRECTION FÜGGVÉNY</a:t>
            </a:r>
            <a:endParaRPr/>
          </a:p>
        </p:txBody>
      </p:sp>
      <p:pic>
        <p:nvPicPr>
          <p:cNvPr id="200" name="Google Shape;200;p28" title="countdirec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6046" y="1508222"/>
            <a:ext cx="8799908" cy="49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A GYŐZTES ÉRZÉKELÉSE</a:t>
            </a:r>
            <a:endParaRPr/>
          </a:p>
        </p:txBody>
      </p:sp>
      <p:pic>
        <p:nvPicPr>
          <p:cNvPr id="207" name="Google Shape;207;p29" title="haswinningl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6049" y="1191425"/>
            <a:ext cx="7986048" cy="5307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JSON FÁJL VÁZA</a:t>
            </a:r>
            <a:endParaRPr/>
          </a:p>
        </p:txBody>
      </p:sp>
      <p:pic>
        <p:nvPicPr>
          <p:cNvPr id="214" name="Google Shape;214;p30" title="savemode-cla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1776" y="1449725"/>
            <a:ext cx="8388449" cy="45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 txBox="1"/>
          <p:nvPr/>
        </p:nvSpPr>
        <p:spPr>
          <a:xfrm>
            <a:off x="408275" y="1392909"/>
            <a:ext cx="11601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CBA6F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Köszönöm a figyelmet!</a:t>
            </a:r>
            <a:endParaRPr/>
          </a:p>
        </p:txBody>
      </p:sp>
      <p:sp>
        <p:nvSpPr>
          <p:cNvPr id="221" name="Google Shape;221;p31"/>
          <p:cNvSpPr txBox="1"/>
          <p:nvPr/>
        </p:nvSpPr>
        <p:spPr>
          <a:xfrm>
            <a:off x="571500" y="4514850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E2D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</a:t>
            </a:r>
            <a:r>
              <a:rPr lang="en-US" sz="1650">
                <a:solidFill>
                  <a:srgbClr val="94E2D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Készítette: Katona Gergő</a:t>
            </a:r>
            <a:r>
              <a:rPr b="0" i="0" lang="en-US" sz="1650" u="none" cap="none" strike="noStrike">
                <a:solidFill>
                  <a:srgbClr val="94E2D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